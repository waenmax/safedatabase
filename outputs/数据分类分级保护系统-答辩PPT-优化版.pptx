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18"/>
    <p:sldId id="269" r:id="rId19"/>
    <p:sldId id="270" r:id="rId20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0" Type="http://schemas.openxmlformats.org/officeDocument/2006/relationships/slide" Target="slides/slide15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AC9E6-57A5-BB00-108B-BF48B880B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0A4CC9-E865-DDA3-408C-513BFE370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5648E5-203E-3CCE-84B1-D7D66682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631674-8C85-E0D1-CE5D-EEB35ECF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5DEAD-06FA-8D38-8157-6218CF6B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48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FB463-F679-975A-9E9B-52266F33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F94828-6FD4-13FF-6F9B-D7913332F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D05525-9486-36AF-670A-2624093A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37519F-08CF-8BDC-21A7-2A8A8A5E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012335-0817-E9A8-24C7-49FEE074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8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A0FB6-CD70-72B9-F022-6C871AF81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A3C9B5-24FC-F4BA-FFED-5F0067C42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53DF57-D1D1-92D3-23BF-0491BB22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D1BD89-788C-868B-8C11-4A09A1D36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443E54-F9F7-0751-BD7E-857951F8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24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49807D-04C7-B5AA-E14F-51DF652B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5593CF-E5FF-A769-1798-87E5DC302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86AC37-8A62-6162-DB74-005B76DEC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3DD622-2C87-C084-1C00-23B4D8D43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F51BA6-9754-BC44-8F86-AA001A40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70D1C4-8611-F2AC-0DE5-467727B5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29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F829C-71DC-64BB-21C2-28AA21A7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C3C334-F854-D3BB-F61E-25567C240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9C46F4-9CC5-8AB6-056C-01963A6A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4B595A-A62E-9633-A7CC-2092B9B43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A8F390-E1A9-1C57-6218-30D3986A1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19AA8D-EF64-FF68-5715-484628B5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541C32-2B73-4801-67CD-5ADCF11B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AF556B-B9EB-E039-1B68-A1B0799E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97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D50DF-90F7-01CD-3927-15FD5180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AC0EE2-1AA4-1F50-664A-FEBC5B9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EAD1A0-8C6E-C619-F97E-14EFBD83C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E6A24E-25FD-3A6D-7B7C-A8E1D136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60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084FF4-98BE-2509-3FDB-021792D1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432F3A-8E3B-AAE4-E628-1D708E8C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2040B-9437-1BB6-B0D4-E447162B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19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5268A-A988-61B4-FCCD-CD5DB3D9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AB3A9A-24AB-74CC-3FE0-CD7DE96B8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64D749-8D13-4118-3327-0E96D3D69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E9599E-0EE0-306C-CD68-806F6F5F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D8F8E3-EAB4-AD3A-C053-841A76E2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17FD15-DA40-A71D-33D7-9A231F9D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90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4F769-760D-6FB8-5F3D-2C0AB187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01BA52-0495-EA02-42EE-2B05AA310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A23021-5703-07A1-DFE5-91843014F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AAB6DC-94CA-A403-E867-A1DA6977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2939FA-20D4-2BC3-D69E-E4337FE92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339972-55E0-7439-9567-43018B8E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26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6F934-ABD8-E3F2-D906-D339C043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BAA985-EB96-0C4C-4A54-4D000DC0E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193BCF-01E0-74F1-9D9A-658DF7208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596C0-3E19-4912-5552-06C985A9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D8C4CE-8CCC-0FEA-E1B3-8B74B841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99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5BD397-C597-FEE2-7F3F-B8EBCA771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94E375-5715-F98A-FB45-FA5E70786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31AB1-63FB-A5A1-3898-972745CA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CA2C43-EF6D-4CB5-DD06-846989A3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560833-D058-7D7B-9054-E1445845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58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D0D9A6-B76B-40E8-1CF4-402A88FFA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15F8C9-A5B7-9509-BB67-71496208F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7695B1-A608-1810-D145-F692BEE0B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E5914-AA87-4027-9138-0ADF200607D3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A3F292-1D7E-8791-D990-D654215B3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339E9-FCC9-DA14-1DD3-AAE5AD1F9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8618B-C041-4C05-9C16-F8B75F8F5C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04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screenshot_13_01_dashboard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screenshot_14_03_agent_workbench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screenshot_15_07_security_report_generated.png" /><Relationship Id="rId3" Type="http://schemas.openxmlformats.org/officeDocument/2006/relationships/image" Target="../media/screenshot_15_06_floating_ai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538051-C2B2-6865-CE58-74221A229E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46CCFA9-D1C2-65CF-C5A2-CB019CD448C8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1AC44F-7E9C-23E1-D0AA-761635DFD281}"/>
              </a:ext>
            </a:extLst>
          </p:cNvPr>
          <p:cNvSpPr/>
          <p:nvPr/>
        </p:nvSpPr>
        <p:spPr>
          <a:xfrm>
            <a:off x="444500" y="5232400"/>
            <a:ext cx="4064000" cy="1079500"/>
          </a:xfrm>
          <a:prstGeom prst="rect">
            <a:avLst/>
          </a:prstGeom>
          <a:solidFill>
            <a:srgbClr val="A4BE9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4571443-B86A-079A-AB25-49481946F76C}"/>
              </a:ext>
            </a:extLst>
          </p:cNvPr>
          <p:cNvSpPr/>
          <p:nvPr/>
        </p:nvSpPr>
        <p:spPr>
          <a:xfrm>
            <a:off x="711200" y="889000"/>
            <a:ext cx="4889500" cy="4064000"/>
          </a:xfrm>
          <a:prstGeom prst="roundRect">
            <a:avLst/>
          </a:prstGeom>
          <a:solidFill>
            <a:srgbClr val="F8FBF4">
              <a:alpha val="95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D9352D-F114-D83D-4405-C06CD4F5513B}"/>
              </a:ext>
            </a:extLst>
          </p:cNvPr>
          <p:cNvSpPr txBox="1"/>
          <p:nvPr/>
        </p:nvSpPr>
        <p:spPr>
          <a:xfrm>
            <a:off x="990600" y="1524000"/>
            <a:ext cx="42545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30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数据分类分级保护系统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7EE495-03AC-8823-3474-058CC50A67F1}"/>
              </a:ext>
            </a:extLst>
          </p:cNvPr>
          <p:cNvSpPr txBox="1"/>
          <p:nvPr/>
        </p:nvSpPr>
        <p:spPr>
          <a:xfrm>
            <a:off x="1041400" y="2349500"/>
            <a:ext cx="39370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课程设计答辩展示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4D156B-67C4-B9AE-EFA6-E6626647EE0F}"/>
              </a:ext>
            </a:extLst>
          </p:cNvPr>
          <p:cNvSpPr txBox="1"/>
          <p:nvPr/>
        </p:nvSpPr>
        <p:spPr>
          <a:xfrm>
            <a:off x="1041400" y="2946400"/>
            <a:ext cx="4165600" cy="48218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4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3 + Vue 3 + MySQL + </a:t>
            </a:r>
            <a:r>
              <a:rPr lang="zh-CN" altLang="en-US" sz="14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数据安全治理 </a:t>
            </a:r>
            <a:r>
              <a:rPr lang="en-US" altLang="zh-CN" sz="14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400">
              <a:solidFill>
                <a:srgbClr val="465D4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A37BF2-9B51-9500-5D4A-09EC15946D42}"/>
              </a:ext>
            </a:extLst>
          </p:cNvPr>
          <p:cNvSpPr txBox="1"/>
          <p:nvPr/>
        </p:nvSpPr>
        <p:spPr>
          <a:xfrm>
            <a:off x="1041400" y="3657600"/>
            <a:ext cx="4191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465D4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面向企业数据资产管理、敏感识别、脱敏审批与审计闭环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52D8B2-324D-21C2-1BBE-7E68FE3C6F04}"/>
              </a:ext>
            </a:extLst>
          </p:cNvPr>
          <p:cNvSpPr txBox="1"/>
          <p:nvPr/>
        </p:nvSpPr>
        <p:spPr>
          <a:xfrm>
            <a:off x="685800" y="5499100"/>
            <a:ext cx="3175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项目：数据分类分级保护系统</a:t>
            </a:r>
          </a:p>
          <a:p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答辩日期：</a:t>
            </a:r>
            <a:r>
              <a:rPr lang="en-US" altLang="zh-CN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1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27410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A83A5B-24FA-7A77-462C-70C10839A5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80ED3AE-0D09-FAC1-FE5F-B14934D5AB55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AE6E2A-58A9-3850-DDFB-B4FC37FED833}"/>
              </a:ext>
            </a:extLst>
          </p:cNvPr>
          <p:cNvSpPr/>
          <p:nvPr/>
        </p:nvSpPr>
        <p:spPr>
          <a:xfrm>
            <a:off x="787400" y="1320800"/>
            <a:ext cx="10604500" cy="4254500"/>
          </a:xfrm>
          <a:prstGeom prst="rect">
            <a:avLst/>
          </a:prstGeom>
          <a:solidFill>
            <a:srgbClr val="F1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38F832-1ABB-95F1-AABF-225ADA9461ED}"/>
              </a:ext>
            </a:extLst>
          </p:cNvPr>
          <p:cNvSpPr txBox="1"/>
          <p:nvPr/>
        </p:nvSpPr>
        <p:spPr>
          <a:xfrm>
            <a:off x="914400" y="787400"/>
            <a:ext cx="2032000" cy="48218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8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82BDFE-0AE4-F5A3-792D-3A90BE95365C}"/>
              </a:ext>
            </a:extLst>
          </p:cNvPr>
          <p:cNvSpPr txBox="1"/>
          <p:nvPr/>
        </p:nvSpPr>
        <p:spPr>
          <a:xfrm>
            <a:off x="1968500" y="1930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01. </a:t>
            </a:r>
            <a:r>
              <a:rPr lang="zh-CN" altLang="en-US" sz="17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项目定位与建设目标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62DE10-8606-FC27-B88E-9206CABA56E5}"/>
              </a:ext>
            </a:extLst>
          </p:cNvPr>
          <p:cNvSpPr txBox="1"/>
          <p:nvPr/>
        </p:nvSpPr>
        <p:spPr>
          <a:xfrm>
            <a:off x="1968500" y="2819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核心功能与角色权限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EB08FB-F413-8362-0346-483D7B038DB4}"/>
              </a:ext>
            </a:extLst>
          </p:cNvPr>
          <p:cNvSpPr txBox="1"/>
          <p:nvPr/>
        </p:nvSpPr>
        <p:spPr>
          <a:xfrm>
            <a:off x="1968500" y="3708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系统技术架构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8610F6-A0D8-7909-B41A-C841C366041A}"/>
              </a:ext>
            </a:extLst>
          </p:cNvPr>
          <p:cNvSpPr txBox="1"/>
          <p:nvPr/>
        </p:nvSpPr>
        <p:spPr>
          <a:xfrm>
            <a:off x="6350000" y="1930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数据治理使用流程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832AE4-F453-BA68-6587-38C4F6A825C2}"/>
              </a:ext>
            </a:extLst>
          </p:cNvPr>
          <p:cNvSpPr txBox="1"/>
          <p:nvPr/>
        </p:nvSpPr>
        <p:spPr>
          <a:xfrm>
            <a:off x="6350000" y="2819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05.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数据库设计与对象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706579-E580-DE4B-34FE-485160DD25D1}"/>
              </a:ext>
            </a:extLst>
          </p:cNvPr>
          <p:cNvSpPr txBox="1"/>
          <p:nvPr/>
        </p:nvSpPr>
        <p:spPr>
          <a:xfrm>
            <a:off x="6350000" y="3708400"/>
            <a:ext cx="3683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06. Agent </a:t>
            </a:r>
            <a:r>
              <a:rPr lang="zh-CN" altLang="en-US" sz="1700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能力与演示流程</a:t>
            </a:r>
          </a:p>
        </p:txBody>
      </p:sp>
    </p:spTree>
    <p:extLst>
      <p:ext uri="{BB962C8B-B14F-4D97-AF65-F5344CB8AC3E}">
        <p14:creationId xmlns:p14="http://schemas.microsoft.com/office/powerpoint/2010/main" val="689108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36BA49-839A-D663-AB4F-F1B5FDC46D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4874C73-F0D8-6BA3-7523-F844F2C3A0AC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256D8-FBE3-0C24-A4DC-27E81F693526}"/>
              </a:ext>
            </a:extLst>
          </p:cNvPr>
          <p:cNvSpPr/>
          <p:nvPr/>
        </p:nvSpPr>
        <p:spPr>
          <a:xfrm>
            <a:off x="9017000" y="190500"/>
            <a:ext cx="2667000" cy="4445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C86E87-3710-3F50-9F3B-95FBBE19AD91}"/>
              </a:ext>
            </a:extLst>
          </p:cNvPr>
          <p:cNvSpPr/>
          <p:nvPr/>
        </p:nvSpPr>
        <p:spPr>
          <a:xfrm>
            <a:off x="685800" y="1168400"/>
            <a:ext cx="5842000" cy="533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832399-22A7-E0EB-0AC9-79291D029BC2}"/>
              </a:ext>
            </a:extLst>
          </p:cNvPr>
          <p:cNvSpPr/>
          <p:nvPr/>
        </p:nvSpPr>
        <p:spPr>
          <a:xfrm>
            <a:off x="685800" y="1714500"/>
            <a:ext cx="5334000" cy="21590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28A802-B103-47A4-DE86-F6BD81EF7331}"/>
              </a:ext>
            </a:extLst>
          </p:cNvPr>
          <p:cNvSpPr/>
          <p:nvPr/>
        </p:nvSpPr>
        <p:spPr>
          <a:xfrm>
            <a:off x="444500" y="3556000"/>
            <a:ext cx="5461000" cy="27305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52A709-3ED8-8468-9AC1-EA2548DA8A2D}"/>
              </a:ext>
            </a:extLst>
          </p:cNvPr>
          <p:cNvSpPr/>
          <p:nvPr/>
        </p:nvSpPr>
        <p:spPr>
          <a:xfrm>
            <a:off x="6032500" y="4572000"/>
            <a:ext cx="5588000" cy="17145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3B07E1-8D72-108D-A3B7-C7A01A320364}"/>
              </a:ext>
            </a:extLst>
          </p:cNvPr>
          <p:cNvSpPr txBox="1"/>
          <p:nvPr/>
        </p:nvSpPr>
        <p:spPr>
          <a:xfrm>
            <a:off x="762000" y="914400"/>
            <a:ext cx="57785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项目定位：数据安全治理闭环平台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FAF617-DBD7-8423-EBBA-E004327AC1A0}"/>
              </a:ext>
            </a:extLst>
          </p:cNvPr>
          <p:cNvSpPr txBox="1"/>
          <p:nvPr/>
        </p:nvSpPr>
        <p:spPr>
          <a:xfrm>
            <a:off x="800100" y="1714500"/>
            <a:ext cx="5334000" cy="124835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统一登记数据源、数据表、字段资产，形成字段级资产台账</a:t>
            </a:r>
          </a:p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L1-L5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分类分级识别敏感字段，并支持规则自动分类</a:t>
            </a:r>
          </a:p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普通用户访问 </a:t>
            </a: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原始值必须提交申请并经过审批</a:t>
            </a:r>
          </a:p>
          <a:p>
            <a:pPr>
              <a:lnSpc>
                <a:spcPct val="105000"/>
              </a:lnSpc>
            </a:pP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查看、分类、审批、</a:t>
            </a:r>
            <a:r>
              <a:rPr lang="en-US" altLang="zh-CN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分析等关键动作全量写入审计日志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28F51EC-362F-EA25-3528-09FABA6C0183}"/>
              </a:ext>
            </a:extLst>
          </p:cNvPr>
          <p:cNvSpPr/>
          <p:nvPr/>
        </p:nvSpPr>
        <p:spPr>
          <a:xfrm>
            <a:off x="6604000" y="1498600"/>
            <a:ext cx="4191000" cy="2921000"/>
          </a:xfrm>
          <a:prstGeom prst="roundRect">
            <a:avLst/>
          </a:prstGeom>
          <a:solidFill>
            <a:srgbClr val="F8FBF4">
              <a:alpha val="95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DE1EFD-C39D-5E8E-0D82-E42B97D9E376}"/>
              </a:ext>
            </a:extLst>
          </p:cNvPr>
          <p:cNvSpPr txBox="1"/>
          <p:nvPr/>
        </p:nvSpPr>
        <p:spPr>
          <a:xfrm>
            <a:off x="6985000" y="1803400"/>
            <a:ext cx="34290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治理闭环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818566-9E18-3057-A5CD-8EC09F08B911}"/>
              </a:ext>
            </a:extLst>
          </p:cNvPr>
          <p:cNvSpPr/>
          <p:nvPr/>
        </p:nvSpPr>
        <p:spPr>
          <a:xfrm>
            <a:off x="8166100" y="19812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资产登记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857F4C1-088E-8715-358B-55FEAB3D30BF}"/>
              </a:ext>
            </a:extLst>
          </p:cNvPr>
          <p:cNvSpPr/>
          <p:nvPr/>
        </p:nvSpPr>
        <p:spPr>
          <a:xfrm>
            <a:off x="9320945" y="24384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349C62-F0B8-1951-83B2-46381A159E86}"/>
              </a:ext>
            </a:extLst>
          </p:cNvPr>
          <p:cNvSpPr/>
          <p:nvPr/>
        </p:nvSpPr>
        <p:spPr>
          <a:xfrm>
            <a:off x="9320945" y="33528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脱敏展示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59C1533-448E-2FC7-94F2-E584A8436E5C}"/>
              </a:ext>
            </a:extLst>
          </p:cNvPr>
          <p:cNvSpPr/>
          <p:nvPr/>
        </p:nvSpPr>
        <p:spPr>
          <a:xfrm>
            <a:off x="8166100" y="38100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申请审批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BD9DA92-6F2C-6E82-0694-C3892D12FBB4}"/>
              </a:ext>
            </a:extLst>
          </p:cNvPr>
          <p:cNvSpPr/>
          <p:nvPr/>
        </p:nvSpPr>
        <p:spPr>
          <a:xfrm>
            <a:off x="7011255" y="33528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审计留痕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60A8376-54DB-A66F-187D-C7FDC0259ACE}"/>
              </a:ext>
            </a:extLst>
          </p:cNvPr>
          <p:cNvSpPr/>
          <p:nvPr/>
        </p:nvSpPr>
        <p:spPr>
          <a:xfrm>
            <a:off x="7011255" y="2438400"/>
            <a:ext cx="1066800" cy="4318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风险整改</a:t>
            </a:r>
          </a:p>
        </p:txBody>
      </p:sp>
    </p:spTree>
    <p:extLst>
      <p:ext uri="{BB962C8B-B14F-4D97-AF65-F5344CB8AC3E}">
        <p14:creationId xmlns:p14="http://schemas.microsoft.com/office/powerpoint/2010/main" val="429466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CE1B58-2272-59B2-8A31-D3B5E152FC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DA3EFE0-5E98-FC0E-E75A-80261C9AA1DB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58B943-3797-B668-E6A2-03537566A8BD}"/>
              </a:ext>
            </a:extLst>
          </p:cNvPr>
          <p:cNvSpPr txBox="1"/>
          <p:nvPr/>
        </p:nvSpPr>
        <p:spPr>
          <a:xfrm>
            <a:off x="762000" y="736600"/>
            <a:ext cx="3302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核心功能模块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E525DF2-7842-28EC-EA5A-BEF353158DFF}"/>
              </a:ext>
            </a:extLst>
          </p:cNvPr>
          <p:cNvSpPr/>
          <p:nvPr/>
        </p:nvSpPr>
        <p:spPr>
          <a:xfrm>
            <a:off x="825500" y="1651000"/>
            <a:ext cx="29845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资产管理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091FD14-2349-26AE-649F-16F092B1E74B}"/>
              </a:ext>
            </a:extLst>
          </p:cNvPr>
          <p:cNvSpPr/>
          <p:nvPr/>
        </p:nvSpPr>
        <p:spPr>
          <a:xfrm>
            <a:off x="825500" y="2133600"/>
            <a:ext cx="29845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数据源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数据表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字段资产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CRUD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字段样例值与敏感标识维护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D7A727B-B6C2-1637-93D3-D15E8131E143}"/>
              </a:ext>
            </a:extLst>
          </p:cNvPr>
          <p:cNvSpPr/>
          <p:nvPr/>
        </p:nvSpPr>
        <p:spPr>
          <a:xfrm>
            <a:off x="4445000" y="1651000"/>
            <a:ext cx="29845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A381650-BCAC-2ED6-6B62-283673719D7C}"/>
              </a:ext>
            </a:extLst>
          </p:cNvPr>
          <p:cNvSpPr/>
          <p:nvPr/>
        </p:nvSpPr>
        <p:spPr>
          <a:xfrm>
            <a:off x="4445000" y="2133600"/>
            <a:ext cx="29845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L1-L5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等级字典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人工分类 </a:t>
            </a:r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keyword/regex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自动识别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7226D07-BDED-1C05-D2A9-F0316658D33A}"/>
              </a:ext>
            </a:extLst>
          </p:cNvPr>
          <p:cNvSpPr/>
          <p:nvPr/>
        </p:nvSpPr>
        <p:spPr>
          <a:xfrm>
            <a:off x="8064500" y="1651000"/>
            <a:ext cx="29845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脱敏与审批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D864828-B6D2-5938-6E90-59C46BCD8D1E}"/>
              </a:ext>
            </a:extLst>
          </p:cNvPr>
          <p:cNvSpPr/>
          <p:nvPr/>
        </p:nvSpPr>
        <p:spPr>
          <a:xfrm>
            <a:off x="8064500" y="2133600"/>
            <a:ext cx="29845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手机号、邮箱、身份证、银行卡等脱敏</a:t>
            </a:r>
          </a:p>
          <a:p>
            <a:r>
              <a:rPr lang="en-US" altLang="zh-CN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原始值走申请审批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D3C628B-6771-DC2B-72E7-70AD88BEEB61}"/>
              </a:ext>
            </a:extLst>
          </p:cNvPr>
          <p:cNvSpPr/>
          <p:nvPr/>
        </p:nvSpPr>
        <p:spPr>
          <a:xfrm>
            <a:off x="825500" y="3327400"/>
            <a:ext cx="4191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审计与看板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1F6DE45-063E-5077-2F70-B51061E4E5AB}"/>
              </a:ext>
            </a:extLst>
          </p:cNvPr>
          <p:cNvSpPr/>
          <p:nvPr/>
        </p:nvSpPr>
        <p:spPr>
          <a:xfrm>
            <a:off x="825500" y="3810000"/>
            <a:ext cx="41910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登录、查看、分类、审批留痕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统计资产、敏感字段与最近日志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4BACF4C-F2D1-A4DE-4843-E57DD58ACED3}"/>
              </a:ext>
            </a:extLst>
          </p:cNvPr>
          <p:cNvSpPr/>
          <p:nvPr/>
        </p:nvSpPr>
        <p:spPr>
          <a:xfrm>
            <a:off x="4445000" y="3327400"/>
            <a:ext cx="4191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31D998A-AB8A-C904-C92F-574D176270D4}"/>
              </a:ext>
            </a:extLst>
          </p:cNvPr>
          <p:cNvSpPr/>
          <p:nvPr/>
        </p:nvSpPr>
        <p:spPr>
          <a:xfrm>
            <a:off x="4445000" y="3810000"/>
            <a:ext cx="4191000" cy="9144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字段分类、审批建议、风险分析</a:t>
            </a:r>
          </a:p>
          <a:p>
            <a:r>
              <a:rPr lang="zh-CN" altLang="en-US" sz="12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安全报告与悬浮问答助手</a:t>
            </a:r>
          </a:p>
        </p:txBody>
      </p:sp>
    </p:spTree>
    <p:extLst>
      <p:ext uri="{BB962C8B-B14F-4D97-AF65-F5344CB8AC3E}">
        <p14:creationId xmlns:p14="http://schemas.microsoft.com/office/powerpoint/2010/main" val="3872108735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ns2:creationId id="{17FD1F91-BC72-9C4A-ECF9-709A885D66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ns2:creationId id="{E16BE234-7088-0861-154A-9E1E892990A2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ns4:hiddenLine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ns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81E7E316-C49C-26C0-7D3C-2814015A2B6C}"/>
              </a:ext>
            </a:extLst>
          </p:cNvPr>
          <p:cNvSpPr/>
          <p:nvPr/>
        </p:nvSpPr>
        <p:spPr>
          <a:xfrm>
            <a:off x="5207000" y="5461000"/>
            <a:ext cx="3937000" cy="1092200"/>
          </a:xfrm>
          <a:prstGeom prst="rect">
            <a:avLst/>
          </a:prstGeom>
          <a:solidFill>
            <a:srgbClr val="EE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ns4:hiddenLine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ns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ns2:creationId id="{C639EE74-9D63-E750-5FC1-20FC77B8EF03}"/>
              </a:ext>
            </a:extLst>
          </p:cNvPr>
          <p:cNvSpPr txBox="1"/>
          <p:nvPr/>
        </p:nvSpPr>
        <p:spPr>
          <a:xfrm>
            <a:off x="736600" y="571500"/>
            <a:ext cx="381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项目技术架构图</a:t>
            </a:r>
          </a:p>
        </p:txBody>
      </p:sp>
      <p:sp>
        <p:nvSpPr>
          <p:cNvPr id="7" name="矩形: 圆角 6">
            <a:extLst>
              <a:ext uri="{FF2B5EF4-FFF2-40B4-BE49-F238E27FC236}">
                <ns2:creationId id="{9616A703-A69D-58C0-3E34-FE63A0F501D9}"/>
              </a:ext>
            </a:extLst>
          </p:cNvPr>
          <p:cNvSpPr/>
          <p:nvPr/>
        </p:nvSpPr>
        <p:spPr>
          <a:xfrm>
            <a:off x="596900" y="1219200"/>
            <a:ext cx="10998200" cy="4635500"/>
          </a:xfrm>
          <a:prstGeom prst="roundRect">
            <a:avLst/>
          </a:prstGeom>
          <a:solidFill>
            <a:srgbClr val="F8FBF4"/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ns2:creationId id="{AD920F9B-4C12-89FE-7FA5-73AE73F3901F}"/>
              </a:ext>
            </a:extLst>
          </p:cNvPr>
          <p:cNvSpPr/>
          <p:nvPr/>
        </p:nvSpPr>
        <p:spPr>
          <a:xfrm>
            <a:off x="4508500" y="2603500"/>
            <a:ext cx="2921000" cy="889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REST API</a:t>
            </a:r>
          </a:p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认证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Agent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ns2:creationId id="{079EDE2C-A074-E020-2D53-447A2A254605}"/>
              </a:ext>
            </a:extLst>
          </p:cNvPr>
          <p:cNvSpPr/>
          <p:nvPr/>
        </p:nvSpPr>
        <p:spPr>
          <a:xfrm>
            <a:off x="889000" y="2476500"/>
            <a:ext cx="2667000" cy="11176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Vue 3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</a:t>
            </a:r>
          </a:p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Element Plus + Axios + Router</a:t>
            </a:r>
          </a:p>
          <a:p>
            <a:pPr algn="ctr"/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后台管理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悬浮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助手</a:t>
            </a:r>
          </a:p>
        </p:txBody>
      </p:sp>
      <p:sp>
        <p:nvSpPr>
          <p:cNvPr id="10" name="矩形: 圆角 9">
            <a:extLst>
              <a:ext uri="{FF2B5EF4-FFF2-40B4-BE49-F238E27FC236}">
                <ns2:creationId id="{5CAA2B9C-85B3-3B80-AFA9-E48C9E4C95DA}"/>
              </a:ext>
            </a:extLst>
          </p:cNvPr>
          <p:cNvSpPr/>
          <p:nvPr/>
        </p:nvSpPr>
        <p:spPr>
          <a:xfrm>
            <a:off x="8636000" y="2476500"/>
            <a:ext cx="2667000" cy="1117600"/>
          </a:xfrm>
          <a:prstGeom prst="roundRect">
            <a:avLst/>
          </a:prstGeom>
          <a:solidFill>
            <a:srgbClr val="E0EEDA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</a:t>
            </a:r>
          </a:p>
          <a:p>
            <a:pPr algn="ctr"/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16+4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张表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视图</a:t>
            </a:r>
          </a:p>
          <a:p>
            <a:pPr algn="ctr"/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存储过程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触发器 </a:t>
            </a:r>
            <a:r>
              <a:rPr lang="en-US" altLang="zh-CN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索引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ns2:creationId id="{BAB2515D-327F-7517-9062-164F188B94AE}"/>
              </a:ext>
            </a:extLst>
          </p:cNvPr>
          <p:cNvCxnSpPr/>
          <p:nvPr/>
        </p:nvCxnSpPr>
        <p:spPr>
          <a:xfrm>
            <a:off x="3556000" y="3035300"/>
            <a:ext cx="952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ns2:creationId id="{96DA8849-4A87-06D8-8545-578151241DE1}"/>
              </a:ext>
            </a:extLst>
          </p:cNvPr>
          <p:cNvCxnSpPr/>
          <p:nvPr/>
        </p:nvCxnSpPr>
        <p:spPr>
          <a:xfrm>
            <a:off x="7429500" y="3035300"/>
            <a:ext cx="1206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ns2:creationId id="{69E8E78A-FB4C-4AE3-8D46-61F6FA1A85F9}"/>
              </a:ext>
            </a:extLst>
          </p:cNvPr>
          <p:cNvSpPr/>
          <p:nvPr/>
        </p:nvSpPr>
        <p:spPr>
          <a:xfrm>
            <a:off x="4508500" y="1524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AuthService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ns2:creationId id="{4E9D5FFE-C5C8-4563-F1C9-86596099D6FC}"/>
              </a:ext>
            </a:extLst>
          </p:cNvPr>
          <p:cNvSpPr/>
          <p:nvPr/>
        </p:nvSpPr>
        <p:spPr>
          <a:xfrm>
            <a:off x="6413500" y="1524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AssetService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ns2:creationId id="{5026D21C-E0C9-8633-8D0C-3390A1FEE32A}"/>
              </a:ext>
            </a:extLst>
          </p:cNvPr>
          <p:cNvSpPr/>
          <p:nvPr/>
        </p:nvSpPr>
        <p:spPr>
          <a:xfrm>
            <a:off x="4508500" y="40005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Classification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ns2:creationId id="{DB09ABE2-CFB4-A6A1-0222-08D97247B4CE}"/>
              </a:ext>
            </a:extLst>
          </p:cNvPr>
          <p:cNvSpPr/>
          <p:nvPr/>
        </p:nvSpPr>
        <p:spPr>
          <a:xfrm>
            <a:off x="6413500" y="40005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Workflow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ns2:creationId id="{59B29165-72FD-25D8-9E29-AC5ECDE31A2B}"/>
              </a:ext>
            </a:extLst>
          </p:cNvPr>
          <p:cNvSpPr/>
          <p:nvPr/>
        </p:nvSpPr>
        <p:spPr>
          <a:xfrm>
            <a:off x="2794000" y="4191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Audit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ns2:creationId id="{A852A7FB-35DE-B168-CDE3-865413A10455}"/>
              </a:ext>
            </a:extLst>
          </p:cNvPr>
          <p:cNvSpPr/>
          <p:nvPr/>
        </p:nvSpPr>
        <p:spPr>
          <a:xfrm>
            <a:off x="8255000" y="4191000"/>
            <a:ext cx="1524000" cy="4826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200" b="1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ns2:creationId id="{6C3E82AE-752E-D5D2-1424-643766FFA81D}"/>
              </a:ext>
            </a:extLst>
          </p:cNvPr>
          <p:cNvCxnSpPr/>
          <p:nvPr/>
        </p:nvCxnSpPr>
        <p:spPr>
          <a:xfrm>
            <a:off x="5270500" y="2006600"/>
            <a:ext cx="190500" cy="5969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ns2:creationId id="{A8701ACA-36D7-7634-89F0-120974383D7F}"/>
              </a:ext>
            </a:extLst>
          </p:cNvPr>
          <p:cNvCxnSpPr/>
          <p:nvPr/>
        </p:nvCxnSpPr>
        <p:spPr>
          <a:xfrm flipH="1">
            <a:off x="6350000" y="2006600"/>
            <a:ext cx="825500" cy="5969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ns2:creationId id="{B7B5DDCF-0C60-1EDA-E2E9-F6457B42683C}"/>
              </a:ext>
            </a:extLst>
          </p:cNvPr>
          <p:cNvCxnSpPr/>
          <p:nvPr/>
        </p:nvCxnSpPr>
        <p:spPr>
          <a:xfrm flipV="1">
            <a:off x="5270500" y="3492500"/>
            <a:ext cx="190500" cy="5080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ns2:creationId id="{E4110475-BB4A-C60B-1E74-90A6FEFE00F3}"/>
              </a:ext>
            </a:extLst>
          </p:cNvPr>
          <p:cNvCxnSpPr/>
          <p:nvPr/>
        </p:nvCxnSpPr>
        <p:spPr>
          <a:xfrm flipH="1" flipV="1">
            <a:off x="6350000" y="3492500"/>
            <a:ext cx="825500" cy="5080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ns2:creationId id="{630F640D-056D-E0A5-71FD-DCF1EA895B1F}"/>
              </a:ext>
            </a:extLst>
          </p:cNvPr>
          <p:cNvCxnSpPr/>
          <p:nvPr/>
        </p:nvCxnSpPr>
        <p:spPr>
          <a:xfrm flipV="1">
            <a:off x="4318000" y="3492500"/>
            <a:ext cx="1143000" cy="9398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ns2:creationId id="{197A1761-400C-A4EA-9B91-254F881B5FC8}"/>
              </a:ext>
            </a:extLst>
          </p:cNvPr>
          <p:cNvCxnSpPr/>
          <p:nvPr/>
        </p:nvCxnSpPr>
        <p:spPr>
          <a:xfrm flipH="1" flipV="1">
            <a:off x="6858000" y="3492500"/>
            <a:ext cx="1397000" cy="939800"/>
          </a:xfrm>
          <a:prstGeom prst="straightConnector1">
            <a:avLst/>
          </a:prstGeom>
          <a:ln w="20320">
            <a:solidFill>
              <a:srgbClr val="B6936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ns2:creationId id="{BCB00D44-8812-AE7D-90BD-09154362E452}"/>
              </a:ext>
            </a:extLst>
          </p:cNvPr>
          <p:cNvSpPr txBox="1"/>
          <p:nvPr/>
        </p:nvSpPr>
        <p:spPr>
          <a:xfrm>
            <a:off x="1079500" y="5308600"/>
            <a:ext cx="9906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架构特点：前后端分离、</a:t>
            </a:r>
            <a:r>
              <a:rPr lang="en-US" altLang="zh-CN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统一接口、数据库对象完整、</a:t>
            </a:r>
            <a:r>
              <a:rPr lang="en-US" altLang="zh-CN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作为治理辅助层不绕过权限边界。</a:t>
            </a:r>
          </a:p>
        </p:txBody>
      </p:sp>
    </p:spTree>
    <p:extLst>
      <p:ext uri="{BB962C8B-B14F-4D97-AF65-F5344CB8AC3E}">
        <ns5:creationId val="217828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B162E1-DA9B-8382-D698-4847EF48CE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819F03D-E797-9298-ED1F-6D25A0D7E453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3EE0A6-BE2A-60AB-15F5-E3AB0FA9B0F5}"/>
              </a:ext>
            </a:extLst>
          </p:cNvPr>
          <p:cNvSpPr/>
          <p:nvPr/>
        </p:nvSpPr>
        <p:spPr>
          <a:xfrm>
            <a:off x="4572000" y="863600"/>
            <a:ext cx="3302000" cy="533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39A147-5EB4-DCD8-5593-ED3A98439661}"/>
              </a:ext>
            </a:extLst>
          </p:cNvPr>
          <p:cNvSpPr txBox="1"/>
          <p:nvPr/>
        </p:nvSpPr>
        <p:spPr>
          <a:xfrm>
            <a:off x="698500" y="609600"/>
            <a:ext cx="5461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使用流程图：从资产登记到风险整改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0B9435-E36F-9898-1EF8-F1C09D886AEF}"/>
              </a:ext>
            </a:extLst>
          </p:cNvPr>
          <p:cNvSpPr/>
          <p:nvPr/>
        </p:nvSpPr>
        <p:spPr>
          <a:xfrm>
            <a:off x="571500" y="1168400"/>
            <a:ext cx="11049000" cy="4635500"/>
          </a:xfrm>
          <a:prstGeom prst="roundRect">
            <a:avLst/>
          </a:prstGeom>
          <a:solidFill>
            <a:srgbClr val="F8FBF4"/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475DD25-903B-2384-53B3-849E0C56D7AE}"/>
              </a:ext>
            </a:extLst>
          </p:cNvPr>
          <p:cNvSpPr/>
          <p:nvPr/>
        </p:nvSpPr>
        <p:spPr>
          <a:xfrm>
            <a:off x="8890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资产登记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登记数据源、表、字段、样例值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3E5FC84-C092-317C-AE85-9076632A5B75}"/>
              </a:ext>
            </a:extLst>
          </p:cNvPr>
          <p:cNvSpPr/>
          <p:nvPr/>
        </p:nvSpPr>
        <p:spPr>
          <a:xfrm>
            <a:off x="34925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规则自动识别或人工分类，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给出建议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6BCD67-ACFF-1D88-61F3-2C220C0E6E6F}"/>
              </a:ext>
            </a:extLst>
          </p:cNvPr>
          <p:cNvSpPr/>
          <p:nvPr/>
        </p:nvSpPr>
        <p:spPr>
          <a:xfrm>
            <a:off x="63500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脱敏访问</a:t>
            </a:r>
          </a:p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L1-L3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展示授权或脱敏值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983BEA0-E907-6D96-BD66-A8848F6A0FED}"/>
              </a:ext>
            </a:extLst>
          </p:cNvPr>
          <p:cNvSpPr/>
          <p:nvPr/>
        </p:nvSpPr>
        <p:spPr>
          <a:xfrm>
            <a:off x="8890000" y="18034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访问申请</a:t>
            </a:r>
          </a:p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原始值提交申请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A066DE9-45FB-EA55-4FBB-586433B3A18E}"/>
              </a:ext>
            </a:extLst>
          </p:cNvPr>
          <p:cNvSpPr/>
          <p:nvPr/>
        </p:nvSpPr>
        <p:spPr>
          <a:xfrm>
            <a:off x="88900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审批决策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审批人员参考 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16B9D1A-00FA-216D-F607-E95E4CD26CC5}"/>
              </a:ext>
            </a:extLst>
          </p:cNvPr>
          <p:cNvSpPr/>
          <p:nvPr/>
        </p:nvSpPr>
        <p:spPr>
          <a:xfrm>
            <a:off x="63500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审计留痕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查看、审批、分类动作写入日志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0FA80A4-0059-252C-7389-70E2310096C1}"/>
              </a:ext>
            </a:extLst>
          </p:cNvPr>
          <p:cNvSpPr/>
          <p:nvPr/>
        </p:nvSpPr>
        <p:spPr>
          <a:xfrm>
            <a:off x="34925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风险分析</a:t>
            </a:r>
          </a:p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分析审计日志生成告警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9B0AC66-3E75-908D-F7C5-44445E7D37A7}"/>
              </a:ext>
            </a:extLst>
          </p:cNvPr>
          <p:cNvSpPr/>
          <p:nvPr/>
        </p:nvSpPr>
        <p:spPr>
          <a:xfrm>
            <a:off x="889000" y="3683000"/>
            <a:ext cx="1968500" cy="812800"/>
          </a:xfrm>
          <a:prstGeom prst="roundRect">
            <a:avLst/>
          </a:prstGeom>
          <a:solidFill>
            <a:srgbClr val="E7F1E0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安全报告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形成整改建议并持续优化规则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576516-68F8-DD11-65BA-359465991822}"/>
              </a:ext>
            </a:extLst>
          </p:cNvPr>
          <p:cNvCxnSpPr/>
          <p:nvPr/>
        </p:nvCxnSpPr>
        <p:spPr>
          <a:xfrm>
            <a:off x="2857500" y="2209800"/>
            <a:ext cx="635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066B83E-45D8-A3FB-A61C-A9866BCCAE44}"/>
              </a:ext>
            </a:extLst>
          </p:cNvPr>
          <p:cNvCxnSpPr/>
          <p:nvPr/>
        </p:nvCxnSpPr>
        <p:spPr>
          <a:xfrm>
            <a:off x="5461000" y="2209800"/>
            <a:ext cx="889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F7BB67F-3175-59B7-5878-9614981E8E4B}"/>
              </a:ext>
            </a:extLst>
          </p:cNvPr>
          <p:cNvCxnSpPr/>
          <p:nvPr/>
        </p:nvCxnSpPr>
        <p:spPr>
          <a:xfrm>
            <a:off x="8318500" y="2209800"/>
            <a:ext cx="571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E664688-E8AA-390F-45C4-1D63D150D93E}"/>
              </a:ext>
            </a:extLst>
          </p:cNvPr>
          <p:cNvCxnSpPr/>
          <p:nvPr/>
        </p:nvCxnSpPr>
        <p:spPr>
          <a:xfrm>
            <a:off x="9867900" y="2616200"/>
            <a:ext cx="0" cy="1066800"/>
          </a:xfrm>
          <a:prstGeom prst="straightConnector1">
            <a:avLst/>
          </a:prstGeom>
          <a:ln w="20320">
            <a:solidFill>
              <a:srgbClr val="C483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DD7EFF0-5685-507C-FB04-CB0552FEA21E}"/>
              </a:ext>
            </a:extLst>
          </p:cNvPr>
          <p:cNvCxnSpPr/>
          <p:nvPr/>
        </p:nvCxnSpPr>
        <p:spPr>
          <a:xfrm flipH="1">
            <a:off x="8318500" y="4089400"/>
            <a:ext cx="5715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9D49F86-A926-36A2-4DE7-54EBA243FAC8}"/>
              </a:ext>
            </a:extLst>
          </p:cNvPr>
          <p:cNvCxnSpPr/>
          <p:nvPr/>
        </p:nvCxnSpPr>
        <p:spPr>
          <a:xfrm flipH="1">
            <a:off x="5461000" y="4089400"/>
            <a:ext cx="889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DC41831-703B-6B33-4C6D-F567257E941C}"/>
              </a:ext>
            </a:extLst>
          </p:cNvPr>
          <p:cNvCxnSpPr/>
          <p:nvPr/>
        </p:nvCxnSpPr>
        <p:spPr>
          <a:xfrm flipH="1">
            <a:off x="2857500" y="4089400"/>
            <a:ext cx="635000" cy="0"/>
          </a:xfrm>
          <a:prstGeom prst="straightConnector1">
            <a:avLst/>
          </a:prstGeom>
          <a:ln w="20320">
            <a:solidFill>
              <a:srgbClr val="56765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34F7A5C-BD1D-8929-9F1D-14B16D3A165A}"/>
              </a:ext>
            </a:extLst>
          </p:cNvPr>
          <p:cNvCxnSpPr/>
          <p:nvPr/>
        </p:nvCxnSpPr>
        <p:spPr>
          <a:xfrm flipV="1">
            <a:off x="1866900" y="2616200"/>
            <a:ext cx="0" cy="1066800"/>
          </a:xfrm>
          <a:prstGeom prst="straightConnector1">
            <a:avLst/>
          </a:prstGeom>
          <a:ln w="20320">
            <a:solidFill>
              <a:srgbClr val="C4834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48D0E3E-7291-7F38-927B-5F363F27AFC7}"/>
              </a:ext>
            </a:extLst>
          </p:cNvPr>
          <p:cNvSpPr txBox="1"/>
          <p:nvPr/>
        </p:nvSpPr>
        <p:spPr>
          <a:xfrm>
            <a:off x="1397000" y="5207000"/>
            <a:ext cx="9398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闭环关键：高敏数据默认不可直接暴露，审批与审计共同保证可控、可追溯、可整改。</a:t>
            </a:r>
          </a:p>
        </p:txBody>
      </p:sp>
    </p:spTree>
    <p:extLst>
      <p:ext uri="{BB962C8B-B14F-4D97-AF65-F5344CB8AC3E}">
        <p14:creationId xmlns:p14="http://schemas.microsoft.com/office/powerpoint/2010/main" val="1847534811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ns2:creationId id="{CC9BD1DA-D847-5DD1-3187-0DDD6A0C8E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ns2:creationId id="{234030CA-0396-8645-A547-637005311F90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ns4:hiddenLine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ns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ns2:creationId id="{61260C48-890C-1F37-83F4-FE574A7D680B}"/>
              </a:ext>
            </a:extLst>
          </p:cNvPr>
          <p:cNvSpPr txBox="1"/>
          <p:nvPr/>
        </p:nvSpPr>
        <p:spPr>
          <a:xfrm>
            <a:off x="698500" y="635000"/>
            <a:ext cx="4191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数据库设计：六个业务域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37E64542-2A3B-96EF-6DA5-9EE0DFE821FC}"/>
              </a:ext>
            </a:extLst>
          </p:cNvPr>
          <p:cNvSpPr/>
          <p:nvPr/>
        </p:nvSpPr>
        <p:spPr>
          <a:xfrm>
            <a:off x="660400" y="1206500"/>
            <a:ext cx="10731500" cy="4572000"/>
          </a:xfrm>
          <a:prstGeom prst="roundRect">
            <a:avLst/>
          </a:prstGeom>
          <a:solidFill>
            <a:srgbClr val="F8FBF4">
              <a:alpha val="95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ns2:creationId id="{2A175988-059E-C41A-7230-C6813A24262B}"/>
              </a:ext>
            </a:extLst>
          </p:cNvPr>
          <p:cNvSpPr/>
          <p:nvPr/>
        </p:nvSpPr>
        <p:spPr>
          <a:xfrm>
            <a:off x="1016000" y="16510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用户权限域</a:t>
            </a:r>
          </a:p>
        </p:txBody>
      </p:sp>
      <p:sp>
        <p:nvSpPr>
          <p:cNvPr id="8" name="矩形: 圆角 7">
            <a:extLst>
              <a:ext uri="{FF2B5EF4-FFF2-40B4-BE49-F238E27FC236}">
                <ns2:creationId id="{83461944-7DEA-BB39-1687-E84F7D85B069}"/>
              </a:ext>
            </a:extLst>
          </p:cNvPr>
          <p:cNvSpPr/>
          <p:nvPr/>
        </p:nvSpPr>
        <p:spPr>
          <a:xfrm>
            <a:off x="1016000" y="21336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fr-FR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sys_user / sys_role / sys_permission</a:t>
            </a:r>
          </a:p>
          <a:p>
            <a:r>
              <a:rPr lang="fr-FR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sys_user_role / sys_role_permission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ns2:creationId id="{0323684D-E489-AFBA-418F-E240AA82F553}"/>
              </a:ext>
            </a:extLst>
          </p:cNvPr>
          <p:cNvSpPr/>
          <p:nvPr/>
        </p:nvSpPr>
        <p:spPr>
          <a:xfrm>
            <a:off x="4445000" y="16510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数据资产域</a:t>
            </a:r>
          </a:p>
        </p:txBody>
      </p:sp>
      <p:sp>
        <p:nvSpPr>
          <p:cNvPr id="10" name="矩形: 圆角 9">
            <a:extLst>
              <a:ext uri="{FF2B5EF4-FFF2-40B4-BE49-F238E27FC236}">
                <ns2:creationId id="{1FE96FCF-9EA0-E355-95A2-B56AAAD9B20C}"/>
              </a:ext>
            </a:extLst>
          </p:cNvPr>
          <p:cNvSpPr/>
          <p:nvPr/>
        </p:nvSpPr>
        <p:spPr>
          <a:xfrm>
            <a:off x="4445000" y="21336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data_source / data_table_asset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data_field_asset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ns2:creationId id="{925360A5-9DAE-AB45-CA67-6565E0A15212}"/>
              </a:ext>
            </a:extLst>
          </p:cNvPr>
          <p:cNvSpPr/>
          <p:nvPr/>
        </p:nvSpPr>
        <p:spPr>
          <a:xfrm>
            <a:off x="7874000" y="16510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分类分级域</a:t>
            </a:r>
          </a:p>
        </p:txBody>
      </p:sp>
      <p:sp>
        <p:nvSpPr>
          <p:cNvPr id="12" name="矩形: 圆角 11">
            <a:extLst>
              <a:ext uri="{FF2B5EF4-FFF2-40B4-BE49-F238E27FC236}">
                <ns2:creationId id="{B53E30EB-BBDB-99C3-C903-42DEAEFD436A}"/>
              </a:ext>
            </a:extLst>
          </p:cNvPr>
          <p:cNvSpPr/>
          <p:nvPr/>
        </p:nvSpPr>
        <p:spPr>
          <a:xfrm>
            <a:off x="7874000" y="21336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classification_category / level / rule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field_classification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ns2:creationId id="{0404F257-AAFE-518E-6C9F-C5DC1CCC058C}"/>
              </a:ext>
            </a:extLst>
          </p:cNvPr>
          <p:cNvSpPr/>
          <p:nvPr/>
        </p:nvSpPr>
        <p:spPr>
          <a:xfrm>
            <a:off x="1016000" y="33274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访问控制域</a:t>
            </a:r>
          </a:p>
        </p:txBody>
      </p:sp>
      <p:sp>
        <p:nvSpPr>
          <p:cNvPr id="14" name="矩形: 圆角 13">
            <a:extLst>
              <a:ext uri="{FF2B5EF4-FFF2-40B4-BE49-F238E27FC236}">
                <ns2:creationId id="{2306E679-01F6-77C2-DCBD-B8F45A26F1A1}"/>
              </a:ext>
            </a:extLst>
          </p:cNvPr>
          <p:cNvSpPr/>
          <p:nvPr/>
        </p:nvSpPr>
        <p:spPr>
          <a:xfrm>
            <a:off x="1016000" y="38100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masking_policy / access_request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approval_record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ns2:creationId id="{907CBB3F-77F2-3B88-EE69-0E3DC5FC3625}"/>
              </a:ext>
            </a:extLst>
          </p:cNvPr>
          <p:cNvSpPr/>
          <p:nvPr/>
        </p:nvSpPr>
        <p:spPr>
          <a:xfrm>
            <a:off x="4445000" y="33274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审计域</a:t>
            </a:r>
          </a:p>
        </p:txBody>
      </p:sp>
      <p:sp>
        <p:nvSpPr>
          <p:cNvPr id="16" name="矩形: 圆角 15">
            <a:extLst>
              <a:ext uri="{FF2B5EF4-FFF2-40B4-BE49-F238E27FC236}">
                <ns2:creationId id="{1AD93170-F90B-96FD-903A-5DF516EC8320}"/>
              </a:ext>
            </a:extLst>
          </p:cNvPr>
          <p:cNvSpPr/>
          <p:nvPr/>
        </p:nvSpPr>
        <p:spPr>
          <a:xfrm>
            <a:off x="4445000" y="38100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audit_log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ns2:creationId id="{B5D17705-85C6-C0AE-23E3-FA6107B5045C}"/>
              </a:ext>
            </a:extLst>
          </p:cNvPr>
          <p:cNvSpPr/>
          <p:nvPr/>
        </p:nvSpPr>
        <p:spPr>
          <a:xfrm>
            <a:off x="7874000" y="3327400"/>
            <a:ext cx="2794000" cy="4318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域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7CD43AFA-3D9C-10E6-DA37-A5A68C3F824F}"/>
              </a:ext>
            </a:extLst>
          </p:cNvPr>
          <p:cNvSpPr/>
          <p:nvPr/>
        </p:nvSpPr>
        <p:spPr>
          <a:xfrm>
            <a:off x="7874000" y="3810000"/>
            <a:ext cx="2794000" cy="787400"/>
          </a:xfrm>
          <a:prstGeom prst="roundRect">
            <a:avLst/>
          </a:prstGeom>
          <a:solidFill>
            <a:srgbClr val="EEF4E8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agent_task / agent_recommendation</a:t>
            </a:r>
          </a:p>
          <a:p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risk_alert / agent_chat_history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ns2:creationId id="{99E70CFC-E04A-D498-CED7-FED854620A23}"/>
              </a:ext>
            </a:extLst>
          </p:cNvPr>
          <p:cNvSpPr txBox="1"/>
          <p:nvPr/>
        </p:nvSpPr>
        <p:spPr>
          <a:xfrm>
            <a:off x="1168400" y="5143500"/>
            <a:ext cx="9652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数据库对象覆盖：</a:t>
            </a:r>
            <a:r>
              <a:rPr lang="en-US" altLang="zh-CN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16+4 </a:t>
            </a:r>
            <a:r>
              <a:rPr lang="zh-CN" altLang="en-US" sz="1300">
                <a:solidFill>
                  <a:srgbClr val="3F55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张表、视图、存储过程、触发器与关键索引，满足课程设计完整性与演示可运行性。</a:t>
            </a:r>
          </a:p>
        </p:txBody>
      </p:sp>
    </p:spTree>
    <p:extLst>
      <p:ext uri="{BB962C8B-B14F-4D97-AF65-F5344CB8AC3E}">
        <ns5:creationId val="1727025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7852D6-2F00-B9A8-1C31-48A4AAE50A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C605A89-CB05-F6E9-39CB-FE04DDF39092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DA4010-85D2-9EC0-CB04-C83A7AAC68E5}"/>
              </a:ext>
            </a:extLst>
          </p:cNvPr>
          <p:cNvSpPr txBox="1"/>
          <p:nvPr/>
        </p:nvSpPr>
        <p:spPr>
          <a:xfrm>
            <a:off x="4191000" y="889000"/>
            <a:ext cx="4064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接口与权限边界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E8AECB4-1314-712F-BFCF-E20BF6C28C70}"/>
              </a:ext>
            </a:extLst>
          </p:cNvPr>
          <p:cNvSpPr/>
          <p:nvPr/>
        </p:nvSpPr>
        <p:spPr>
          <a:xfrm>
            <a:off x="3683000" y="1524000"/>
            <a:ext cx="7112000" cy="3810000"/>
          </a:xfrm>
          <a:prstGeom prst="roundRect">
            <a:avLst/>
          </a:prstGeom>
          <a:solidFill>
            <a:srgbClr val="F8FBF4">
              <a:alpha val="90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E5BF9A-E948-D9FB-514C-CD7914250481}"/>
              </a:ext>
            </a:extLst>
          </p:cNvPr>
          <p:cNvSpPr txBox="1"/>
          <p:nvPr/>
        </p:nvSpPr>
        <p:spPr>
          <a:xfrm>
            <a:off x="4000500" y="1778000"/>
            <a:ext cx="64770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统一前缀：</a:t>
            </a:r>
            <a:r>
              <a:rPr lang="en-US" altLang="zh-CN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/api</a:t>
            </a:r>
            <a:r>
              <a:rPr lang="zh-CN" altLang="en-US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，登录后携带 </a:t>
            </a:r>
            <a:r>
              <a:rPr lang="en-US" altLang="zh-CN" sz="1400" b="1">
                <a:solidFill>
                  <a:srgbClr val="3254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Authorization: Bearer &lt;token&gt;</a:t>
            </a:r>
            <a:endParaRPr lang="zh-CN" altLang="en-US" sz="1400" b="1">
              <a:solidFill>
                <a:srgbClr val="3254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C25C13-909A-E73A-40A2-F17D783C72C9}"/>
              </a:ext>
            </a:extLst>
          </p:cNvPr>
          <p:cNvSpPr txBox="1"/>
          <p:nvPr/>
        </p:nvSpPr>
        <p:spPr>
          <a:xfrm>
            <a:off x="4064000" y="2286000"/>
            <a:ext cx="6350000" cy="120283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认证：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POST /auth/login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GET /auth/me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/data-sources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/tables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/fields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/field-classifications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/auto-classify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/access-requests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 / reject</a:t>
            </a:r>
          </a:p>
          <a:p>
            <a:pPr>
              <a:lnSpc>
                <a:spcPct val="105000"/>
              </a:lnSpc>
            </a:pP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Agent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/agent/classify-field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review-access-request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analyze-audit-logs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security-report</a:t>
            </a:r>
            <a:r>
              <a:rPr lang="zh-CN" altLang="en-US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chat</a:t>
            </a:r>
            <a:endParaRPr lang="zh-CN" altLang="en-US" sz="1200">
              <a:solidFill>
                <a:srgbClr val="304A3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9B30A3-5990-2F45-F923-AF6162716F69}"/>
              </a:ext>
            </a:extLst>
          </p:cNvPr>
          <p:cNvSpPr/>
          <p:nvPr/>
        </p:nvSpPr>
        <p:spPr>
          <a:xfrm>
            <a:off x="4191000" y="4381500"/>
            <a:ext cx="5969000" cy="685800"/>
          </a:xfrm>
          <a:prstGeom prst="roundRect">
            <a:avLst/>
          </a:prstGeom>
          <a:solidFill>
            <a:srgbClr val="F6EFDC">
              <a:alpha val="92000"/>
            </a:srgbClr>
          </a:solidFill>
          <a:ln w="17780">
            <a:solidFill>
              <a:srgbClr val="B693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角色模型：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admin / security_admin / approver / user</a:t>
            </a:r>
          </a:p>
          <a:p>
            <a:pPr algn="ctr"/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普通用户查看 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原始值必须存在有效 </a:t>
            </a:r>
            <a:r>
              <a:rPr lang="en-US" altLang="zh-CN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APPROVED </a:t>
            </a:r>
            <a:r>
              <a:rPr lang="zh-CN" altLang="en-US" sz="12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</a:t>
            </a:r>
          </a:p>
        </p:txBody>
      </p:sp>
    </p:spTree>
    <p:extLst>
      <p:ext uri="{BB962C8B-B14F-4D97-AF65-F5344CB8AC3E}">
        <p14:creationId xmlns:p14="http://schemas.microsoft.com/office/powerpoint/2010/main" val="51001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9CD887-AB8C-7323-E142-A0511E20C4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E691216-5180-956E-992D-0D9BDBCCB897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4D3981-2F3C-9C35-4447-F4D14882F0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5E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77B1AD-C3F7-40E7-CC11-58DE8E60A77F}"/>
              </a:ext>
            </a:extLst>
          </p:cNvPr>
          <p:cNvSpPr/>
          <p:nvPr/>
        </p:nvSpPr>
        <p:spPr>
          <a:xfrm>
            <a:off x="0" y="0"/>
            <a:ext cx="12192000" cy="1498600"/>
          </a:xfrm>
          <a:prstGeom prst="rect">
            <a:avLst/>
          </a:prstGeom>
          <a:solidFill>
            <a:srgbClr val="5B80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85B047-E3F3-4CA0-1C3A-2516F17E42ED}"/>
              </a:ext>
            </a:extLst>
          </p:cNvPr>
          <p:cNvSpPr txBox="1"/>
          <p:nvPr/>
        </p:nvSpPr>
        <p:spPr>
          <a:xfrm>
            <a:off x="698500" y="635000"/>
            <a:ext cx="4191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数据安全治理 </a:t>
            </a:r>
            <a:r>
              <a:rPr lang="en-US" altLang="zh-CN" sz="2300" b="1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2300" b="1">
              <a:solidFill>
                <a:srgbClr val="F5F9E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48748A-D6EC-2773-385D-AE33C8D8C9DC}"/>
              </a:ext>
            </a:extLst>
          </p:cNvPr>
          <p:cNvSpPr/>
          <p:nvPr/>
        </p:nvSpPr>
        <p:spPr>
          <a:xfrm>
            <a:off x="825500" y="1333500"/>
            <a:ext cx="10350500" cy="4191000"/>
          </a:xfrm>
          <a:prstGeom prst="roundRect">
            <a:avLst/>
          </a:prstGeom>
          <a:solidFill>
            <a:srgbClr val="F8FBF4">
              <a:alpha val="80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F454055-A3E6-F4A4-F782-8D31B04AB36F}"/>
              </a:ext>
            </a:extLst>
          </p:cNvPr>
          <p:cNvSpPr/>
          <p:nvPr/>
        </p:nvSpPr>
        <p:spPr>
          <a:xfrm>
            <a:off x="1206500" y="17145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字段智能分类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11A24DD-F082-D0E0-496B-954FC9EEABCD}"/>
              </a:ext>
            </a:extLst>
          </p:cNvPr>
          <p:cNvSpPr/>
          <p:nvPr/>
        </p:nvSpPr>
        <p:spPr>
          <a:xfrm>
            <a:off x="1206500" y="21971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读取字段名、类型、说明、样例值，输出分类、分级、理由、置信度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613665E-D056-BC5E-E395-0AD53D4FFA22}"/>
              </a:ext>
            </a:extLst>
          </p:cNvPr>
          <p:cNvSpPr/>
          <p:nvPr/>
        </p:nvSpPr>
        <p:spPr>
          <a:xfrm>
            <a:off x="6159500" y="17145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审批建议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95294DC-60C6-1075-FE01-6635BD6D5031}"/>
              </a:ext>
            </a:extLst>
          </p:cNvPr>
          <p:cNvSpPr/>
          <p:nvPr/>
        </p:nvSpPr>
        <p:spPr>
          <a:xfrm>
            <a:off x="6159500" y="21971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结合申请人、字段等级、申请理由和历史记录，给出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approve/reject/manual_review</a:t>
            </a:r>
            <a:endParaRPr lang="zh-CN" altLang="en-US" sz="1100">
              <a:solidFill>
                <a:srgbClr val="223F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BEFDAFE-7D2E-A358-FDE8-A34BEB372124}"/>
              </a:ext>
            </a:extLst>
          </p:cNvPr>
          <p:cNvSpPr/>
          <p:nvPr/>
        </p:nvSpPr>
        <p:spPr>
          <a:xfrm>
            <a:off x="1206500" y="32131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审计风险分析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67394FD-9396-A37F-B8D2-2E40E0288459}"/>
              </a:ext>
            </a:extLst>
          </p:cNvPr>
          <p:cNvSpPr/>
          <p:nvPr/>
        </p:nvSpPr>
        <p:spPr>
          <a:xfrm>
            <a:off x="1206500" y="36957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识别高频敏感访问、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L4/L5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访问集中、登录失败、异常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等风险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651C4-4918-FACD-9794-AF7804216099}"/>
              </a:ext>
            </a:extLst>
          </p:cNvPr>
          <p:cNvSpPr/>
          <p:nvPr/>
        </p:nvSpPr>
        <p:spPr>
          <a:xfrm>
            <a:off x="6159500" y="3213100"/>
            <a:ext cx="4064000" cy="431800"/>
          </a:xfrm>
          <a:prstGeom prst="roundRect">
            <a:avLst/>
          </a:prstGeom>
          <a:solidFill>
            <a:srgbClr val="416649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安全报告与问答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6FAAAC1-15A1-ED1E-25BF-92D19BBEA348}"/>
              </a:ext>
            </a:extLst>
          </p:cNvPr>
          <p:cNvSpPr/>
          <p:nvPr/>
        </p:nvSpPr>
        <p:spPr>
          <a:xfrm>
            <a:off x="6159500" y="3695700"/>
            <a:ext cx="4064000" cy="6985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治理报告；悬浮 </a:t>
            </a:r>
            <a:r>
              <a:rPr lang="en-US" altLang="zh-CN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助手支持自然语言查询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0089572-5DF2-CE2C-69AE-D77B94C5E895}"/>
              </a:ext>
            </a:extLst>
          </p:cNvPr>
          <p:cNvSpPr txBox="1"/>
          <p:nvPr/>
        </p:nvSpPr>
        <p:spPr>
          <a:xfrm>
            <a:off x="1524000" y="4978400"/>
            <a:ext cx="8890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EDF6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安全约束：</a:t>
            </a:r>
            <a:r>
              <a:rPr lang="en-US" altLang="zh-CN" sz="1300">
                <a:solidFill>
                  <a:srgbClr val="EDF6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EDF6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只做分析、建议、解释和报告，不绕过系统权限，不自动批准高风险访问。</a:t>
            </a:r>
          </a:p>
        </p:txBody>
      </p:sp>
    </p:spTree>
    <p:extLst>
      <p:ext uri="{BB962C8B-B14F-4D97-AF65-F5344CB8AC3E}">
        <p14:creationId xmlns:p14="http://schemas.microsoft.com/office/powerpoint/2010/main" val="196079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1C24FE-17DF-5C17-2C14-49AA660D19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A1D46D-0BBA-86FB-0E76-456604754FEB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56A966-7BD4-0CFC-48D6-75D932E0558F}"/>
              </a:ext>
            </a:extLst>
          </p:cNvPr>
          <p:cNvSpPr txBox="1"/>
          <p:nvPr/>
        </p:nvSpPr>
        <p:spPr>
          <a:xfrm>
            <a:off x="4191000" y="723900"/>
            <a:ext cx="3937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推荐答辩演示流程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148958F-BEF7-9506-96C9-C8A7882297AD}"/>
              </a:ext>
            </a:extLst>
          </p:cNvPr>
          <p:cNvSpPr/>
          <p:nvPr/>
        </p:nvSpPr>
        <p:spPr>
          <a:xfrm>
            <a:off x="3302000" y="1460500"/>
            <a:ext cx="7493000" cy="4191000"/>
          </a:xfrm>
          <a:prstGeom prst="roundRect">
            <a:avLst/>
          </a:prstGeom>
          <a:solidFill>
            <a:srgbClr val="F8FBF4">
              <a:alpha val="92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9217A7B-F830-BD8B-A830-EAB2C81AD83B}"/>
              </a:ext>
            </a:extLst>
          </p:cNvPr>
          <p:cNvSpPr/>
          <p:nvPr/>
        </p:nvSpPr>
        <p:spPr>
          <a:xfrm>
            <a:off x="3746500" y="18415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241184-0862-4462-BDBD-DF334D880561}"/>
              </a:ext>
            </a:extLst>
          </p:cNvPr>
          <p:cNvSpPr txBox="1"/>
          <p:nvPr/>
        </p:nvSpPr>
        <p:spPr>
          <a:xfrm>
            <a:off x="4318000" y="18415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admin / 123456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登录，展示首页看板与资产统计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5BD9B6-6124-362E-526D-A626312754C3}"/>
              </a:ext>
            </a:extLst>
          </p:cNvPr>
          <p:cNvSpPr/>
          <p:nvPr/>
        </p:nvSpPr>
        <p:spPr>
          <a:xfrm>
            <a:off x="3746500" y="23876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EF38C9-E665-7ECD-9951-A487AFC2A6D3}"/>
              </a:ext>
            </a:extLst>
          </p:cNvPr>
          <p:cNvSpPr txBox="1"/>
          <p:nvPr/>
        </p:nvSpPr>
        <p:spPr>
          <a:xfrm>
            <a:off x="4318000" y="23876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id_card_no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字段，样例值填写身份证格式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541FDDA-540F-267C-EE5D-7A5FBA4E707A}"/>
              </a:ext>
            </a:extLst>
          </p:cNvPr>
          <p:cNvSpPr/>
          <p:nvPr/>
        </p:nvSpPr>
        <p:spPr>
          <a:xfrm>
            <a:off x="3746500" y="29337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41F007-483C-97E6-14A7-AC65C1F529DD}"/>
              </a:ext>
            </a:extLst>
          </p:cNvPr>
          <p:cNvSpPr txBox="1"/>
          <p:nvPr/>
        </p:nvSpPr>
        <p:spPr>
          <a:xfrm>
            <a:off x="4318000" y="29337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字段智能分类，生成并应用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L4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92BE45F-32E3-5072-EA9A-5FD6479F27BA}"/>
              </a:ext>
            </a:extLst>
          </p:cNvPr>
          <p:cNvSpPr/>
          <p:nvPr/>
        </p:nvSpPr>
        <p:spPr>
          <a:xfrm>
            <a:off x="3746500" y="34798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51E2E2-6330-709B-B5CC-DCB67478CE0E}"/>
              </a:ext>
            </a:extLst>
          </p:cNvPr>
          <p:cNvSpPr txBox="1"/>
          <p:nvPr/>
        </p:nvSpPr>
        <p:spPr>
          <a:xfrm>
            <a:off x="4318000" y="34798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切换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申请访问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L5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字段原始值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80B4E06-6387-0C1E-6A3A-2F63AF1CE139}"/>
              </a:ext>
            </a:extLst>
          </p:cNvPr>
          <p:cNvSpPr/>
          <p:nvPr/>
        </p:nvSpPr>
        <p:spPr>
          <a:xfrm>
            <a:off x="3746500" y="40259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34B979-E3E1-46CC-5B8E-CB1D768D8164}"/>
              </a:ext>
            </a:extLst>
          </p:cNvPr>
          <p:cNvSpPr txBox="1"/>
          <p:nvPr/>
        </p:nvSpPr>
        <p:spPr>
          <a:xfrm>
            <a:off x="4318000" y="40259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approver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 </a:t>
            </a:r>
            <a:r>
              <a:rPr lang="en-US" altLang="zh-CN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审批建议并处理申请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27BEF0D-D7F9-1052-F2AC-86BEE2CE4D93}"/>
              </a:ext>
            </a:extLst>
          </p:cNvPr>
          <p:cNvSpPr/>
          <p:nvPr/>
        </p:nvSpPr>
        <p:spPr>
          <a:xfrm>
            <a:off x="3746500" y="4572000"/>
            <a:ext cx="381000" cy="381000"/>
          </a:xfrm>
          <a:prstGeom prst="roundRect">
            <a:avLst/>
          </a:prstGeom>
          <a:solidFill>
            <a:srgbClr val="32543A">
              <a:alpha val="92000"/>
            </a:srgbClr>
          </a:solidFill>
          <a:ln w="17780">
            <a:solidFill>
              <a:srgbClr val="3254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C318FA-651B-95C3-4F3D-EC577DB63F19}"/>
              </a:ext>
            </a:extLst>
          </p:cNvPr>
          <p:cNvSpPr txBox="1"/>
          <p:nvPr/>
        </p:nvSpPr>
        <p:spPr>
          <a:xfrm>
            <a:off x="4318000" y="4572000"/>
            <a:ext cx="596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1300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回到审计日志、风险告警与安全报告页面验证闭环</a:t>
            </a:r>
          </a:p>
        </p:txBody>
      </p:sp>
    </p:spTree>
    <p:extLst>
      <p:ext uri="{BB962C8B-B14F-4D97-AF65-F5344CB8AC3E}">
        <p14:creationId xmlns:p14="http://schemas.microsoft.com/office/powerpoint/2010/main" val="198612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B6D52B-608B-DCD6-EEA1-29521AFC12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48719BE-9615-AFCC-1AC6-EA12E76ED263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C6F6E2-1AFA-8546-E286-E2C85999E222}"/>
              </a:ext>
            </a:extLst>
          </p:cNvPr>
          <p:cNvSpPr txBox="1"/>
          <p:nvPr/>
        </p:nvSpPr>
        <p:spPr>
          <a:xfrm>
            <a:off x="698500" y="698500"/>
            <a:ext cx="4318000" cy="40523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zh-CN" altLang="en-US" sz="2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项目亮点与验收价值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E603AF-9E60-47E8-42E3-1C242E824D37}"/>
              </a:ext>
            </a:extLst>
          </p:cNvPr>
          <p:cNvSpPr/>
          <p:nvPr/>
        </p:nvSpPr>
        <p:spPr>
          <a:xfrm>
            <a:off x="660400" y="1333500"/>
            <a:ext cx="7112000" cy="4064000"/>
          </a:xfrm>
          <a:prstGeom prst="roundRect">
            <a:avLst/>
          </a:prstGeom>
          <a:solidFill>
            <a:srgbClr val="F8FBF4">
              <a:alpha val="92000"/>
            </a:srgbClr>
          </a:solidFill>
          <a:ln w="12700" cap="flat" cmpd="sng" algn="ctr">
            <a:solidFill>
              <a:srgbClr val="5B7D58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33323E-A70D-9466-E3FE-7FC68E7FEC8C}"/>
              </a:ext>
            </a:extLst>
          </p:cNvPr>
          <p:cNvSpPr txBox="1"/>
          <p:nvPr/>
        </p:nvSpPr>
        <p:spPr>
          <a:xfrm>
            <a:off x="1016000" y="1752600"/>
            <a:ext cx="6350000" cy="108869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数据库对象完整：表、主外键、索引、视图、存储过程、触发器齐全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规则驱动自动分类：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keyword/regex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命中后写入分类分级结果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访问控制闭环：脱敏展示、申请审批、授权访问、审计留痕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Agent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本地规则 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fallback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：外部模型不可用时仍可离线演示</a:t>
            </a:r>
          </a:p>
          <a:p>
            <a:pPr>
              <a:lnSpc>
                <a:spcPct val="105000"/>
              </a:lnSpc>
            </a:pP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前后端可运行：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后端与 </a:t>
            </a:r>
            <a:r>
              <a:rPr lang="en-US" altLang="zh-CN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Vue 3 </a:t>
            </a:r>
            <a:r>
              <a:rPr lang="zh-CN" altLang="en-US" sz="1300">
                <a:solidFill>
                  <a:srgbClr val="304A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管理端覆盖核心页面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08108D0-446E-5692-976B-3608B592F430}"/>
              </a:ext>
            </a:extLst>
          </p:cNvPr>
          <p:cNvSpPr/>
          <p:nvPr/>
        </p:nvSpPr>
        <p:spPr>
          <a:xfrm>
            <a:off x="8064500" y="2032000"/>
            <a:ext cx="3048000" cy="1498600"/>
          </a:xfrm>
          <a:prstGeom prst="roundRect">
            <a:avLst/>
          </a:prstGeom>
          <a:solidFill>
            <a:srgbClr val="ECF3E2">
              <a:alpha val="92000"/>
            </a:srgbClr>
          </a:solidFill>
          <a:ln w="17780">
            <a:solidFill>
              <a:srgbClr val="56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127000" bIns="88900" rtlCol="0" anchor="ctr"/>
          <a:lstStyle/>
          <a:p>
            <a:pPr algn="ctr"/>
            <a:r>
              <a:rPr lang="zh-CN" altLang="en-US" sz="1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答辩定位</a:t>
            </a:r>
          </a:p>
          <a:p>
            <a:pPr algn="ctr"/>
            <a:r>
              <a:rPr lang="zh-CN" altLang="en-US" sz="1300" b="1">
                <a:solidFill>
                  <a:srgbClr val="223F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既展示数据库课程设计完整性，也突出数据安全治理场景的业务闭环和工程实现。</a:t>
            </a:r>
          </a:p>
        </p:txBody>
      </p:sp>
    </p:spTree>
    <p:extLst>
      <p:ext uri="{BB962C8B-B14F-4D97-AF65-F5344CB8AC3E}">
        <p14:creationId xmlns:p14="http://schemas.microsoft.com/office/powerpoint/2010/main" val="379839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795E66-4877-06BB-AC54-D703A236B3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FBBD7C3-F77C-7BF7-2A11-C59412D01827}"/>
              </a:ext>
            </a:extLst>
          </p:cNvPr>
          <p:cNvSpPr/>
          <p:nvPr/>
        </p:nvSpPr>
        <p:spPr>
          <a:xfrm>
            <a:off x="7747000" y="0"/>
            <a:ext cx="4254500" cy="914400"/>
          </a:xfrm>
          <a:prstGeom prst="rect">
            <a:avLst/>
          </a:prstGeom>
          <a:solidFill>
            <a:srgbClr val="A2B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6E9DE6-1DBC-FBD7-933F-8935ED7CD6DC}"/>
              </a:ext>
            </a:extLst>
          </p:cNvPr>
          <p:cNvSpPr/>
          <p:nvPr/>
        </p:nvSpPr>
        <p:spPr>
          <a:xfrm>
            <a:off x="7302500" y="4978400"/>
            <a:ext cx="4064000" cy="1168400"/>
          </a:xfrm>
          <a:prstGeom prst="rect">
            <a:avLst/>
          </a:prstGeom>
          <a:solidFill>
            <a:srgbClr val="5A7D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0144B3-99EE-4B01-865F-B31184301F78}"/>
              </a:ext>
            </a:extLst>
          </p:cNvPr>
          <p:cNvSpPr txBox="1"/>
          <p:nvPr/>
        </p:nvSpPr>
        <p:spPr>
          <a:xfrm>
            <a:off x="7112000" y="2349500"/>
            <a:ext cx="3302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感谢观看！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A2DA9D-D8DA-9AC0-3419-35E1A20A2B3E}"/>
              </a:ext>
            </a:extLst>
          </p:cNvPr>
          <p:cNvSpPr txBox="1"/>
          <p:nvPr/>
        </p:nvSpPr>
        <p:spPr>
          <a:xfrm>
            <a:off x="7112000" y="3111500"/>
            <a:ext cx="3302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zh-CN" altLang="en-US" sz="15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数据分类分级保护系统</a:t>
            </a:r>
          </a:p>
          <a:p>
            <a:pPr algn="ctr"/>
            <a:r>
              <a:rPr lang="zh-CN" altLang="en-US" sz="15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课程设计答辩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27CBF2-7CA8-080D-1FEA-ADDBAAFC31B1}"/>
              </a:ext>
            </a:extLst>
          </p:cNvPr>
          <p:cNvSpPr txBox="1"/>
          <p:nvPr/>
        </p:nvSpPr>
        <p:spPr>
          <a:xfrm>
            <a:off x="7366000" y="5181600"/>
            <a:ext cx="3429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en-US" altLang="zh-CN" sz="12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3 + Vue 3 + MySQL</a:t>
            </a:r>
          </a:p>
          <a:p>
            <a:pPr algn="ctr"/>
            <a:r>
              <a:rPr lang="zh-CN" altLang="en-US" sz="12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数据安全治理 </a:t>
            </a:r>
            <a:r>
              <a:rPr lang="en-US" altLang="zh-CN" sz="1200">
                <a:solidFill>
                  <a:srgbClr val="F5F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1200">
              <a:solidFill>
                <a:srgbClr val="F5F9E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531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330200"/>
            <a:ext cx="825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200" b="1">
                <a:solidFill>
                  <a:srgbClr val="223F2B"/>
                </a:solidFill>
                <a:latin typeface="Microsoft YaHei"/>
                <a:ea typeface="Microsoft YaHei"/>
              </a:rPr>
              <a:t>运行截图：首页看板支撑治理总览</a:t>
            </a:r>
            <a:endParaRPr lang="zh-CN" sz="2200"/>
          </a:p>
        </p:txBody>
      </p:sp>
      <p:sp>
        <p:nvSpPr>
          <p:cNvPr id="3" name="TextBox 3"/>
          <p:cNvSpPr txBox="1"/>
          <p:nvPr/>
        </p:nvSpPr>
        <p:spPr>
          <a:xfrm>
            <a:off x="736600" y="736600"/>
            <a:ext cx="1003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65D43"/>
                </a:solidFill>
                <a:latin typeface="Microsoft YaHei"/>
                <a:ea typeface="Microsoft YaHei"/>
              </a:rPr>
              <a:t>对齐报告中的治理态势说明，展示资产、敏感字段、待审批申请、风险告警和分类覆盖率。</a:t>
            </a:r>
            <a:endParaRPr lang="zh-CN" sz="1200"/>
          </a:p>
        </p:txBody>
      </p:sp>
      <p:pic>
        <p:nvPicPr>
          <p:cNvPr id="4" name="Screenshot 1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092200"/>
            <a:ext cx="10160000" cy="57150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330200"/>
            <a:ext cx="825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200" b="1">
                <a:solidFill>
                  <a:srgbClr val="223F2B"/>
                </a:solidFill>
                <a:latin typeface="Microsoft YaHei"/>
                <a:ea typeface="Microsoft YaHei"/>
              </a:rPr>
              <a:t>运行截图：Agent 工作台体现智能治理入口</a:t>
            </a:r>
            <a:endParaRPr lang="zh-CN" sz="2200"/>
          </a:p>
        </p:txBody>
      </p:sp>
      <p:sp>
        <p:nvSpPr>
          <p:cNvPr id="3" name="TextBox 3"/>
          <p:cNvSpPr txBox="1"/>
          <p:nvPr/>
        </p:nvSpPr>
        <p:spPr>
          <a:xfrm>
            <a:off x="736600" y="736600"/>
            <a:ext cx="1003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65D43"/>
                </a:solidFill>
                <a:latin typeface="Microsoft YaHei"/>
                <a:ea typeface="Microsoft YaHei"/>
              </a:rPr>
              <a:t>对齐项目新增 Agent 模块，展示字段分类、审批建议、风险告警和安全报告的一站式入口。</a:t>
            </a:r>
            <a:endParaRPr lang="zh-CN" sz="1200"/>
          </a:p>
        </p:txBody>
      </p:sp>
      <p:pic>
        <p:nvPicPr>
          <p:cNvPr id="4" name="Screenshot 1" descr="03_agent_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092200"/>
            <a:ext cx="10160000" cy="57150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330200"/>
            <a:ext cx="825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200" b="1">
                <a:solidFill>
                  <a:srgbClr val="223F2B"/>
                </a:solidFill>
                <a:latin typeface="Microsoft YaHei"/>
                <a:ea typeface="Microsoft YaHei"/>
              </a:rPr>
              <a:t>运行截图：安全报告与悬浮助手</a:t>
            </a:r>
            <a:endParaRPr lang="zh-CN" sz="2200"/>
          </a:p>
        </p:txBody>
      </p:sp>
      <p:sp>
        <p:nvSpPr>
          <p:cNvPr id="3" name="TextBox 3"/>
          <p:cNvSpPr txBox="1"/>
          <p:nvPr/>
        </p:nvSpPr>
        <p:spPr>
          <a:xfrm>
            <a:off x="736600" y="736600"/>
            <a:ext cx="1003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200">
                <a:solidFill>
                  <a:srgbClr val="465D43"/>
                </a:solidFill>
                <a:latin typeface="Microsoft YaHei"/>
                <a:ea typeface="Microsoft YaHei"/>
              </a:rPr>
              <a:t>对齐答辩演示流程的最后一步，展示报告生成和任意页面问答能力。</a:t>
            </a:r>
            <a:endParaRPr lang="zh-CN" sz="1200"/>
          </a:p>
        </p:txBody>
      </p:sp>
      <p:pic>
        <p:nvPicPr>
          <p:cNvPr id="4" name="Screenshot 1" descr="07_security_report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73200"/>
            <a:ext cx="5334000" cy="29972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  <p:pic>
        <p:nvPicPr>
          <p:cNvPr id="5" name="Screenshot 2" descr="06_floating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73200"/>
            <a:ext cx="5334000" cy="2997200"/>
          </a:xfrm>
          <a:prstGeom prst="rect">
            <a:avLst/>
          </a:prstGeom>
          <a:ln w="12700">
            <a:solidFill>
              <a:srgbClr val="5B7D58"/>
            </a:solidFill>
          </a:ln>
        </p:spPr>
      </p:pic>
      <p:sp>
        <p:nvSpPr>
          <p:cNvPr id="6" name="TextBox 6"/>
          <p:cNvSpPr txBox="1"/>
          <p:nvPr/>
        </p:nvSpPr>
        <p:spPr>
          <a:xfrm>
            <a:off x="1117600" y="5461000"/>
            <a:ext cx="10033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300">
                <a:solidFill>
                  <a:srgbClr val="304A36"/>
                </a:solidFill>
                <a:latin typeface="Microsoft YaHei"/>
                <a:ea typeface="Microsoft YaHei"/>
              </a:rPr>
              <a:t>报告页把资产概览、分类覆盖率、风险告警和整改建议生成到同一视图； 悬浮助手提供任意页面可用的本地规则问答入口。</a:t>
            </a:r>
            <a:endParaRPr lang="zh-C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Office PowerPoint</Application>
  <PresentationFormat>自定义</PresentationFormat>
  <Paragraphs>139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恩显 万</dc:creator>
  <cp:lastModifiedBy>恩显 万</cp:lastModifiedBy>
  <cp:revision>1</cp:revision>
  <dcterms:created xsi:type="dcterms:W3CDTF">2026-06-23T12:12:34Z</dcterms:created>
  <dcterms:modified xsi:type="dcterms:W3CDTF">2026-06-23T12:12:34Z</dcterms:modified>
</cp:coreProperties>
</file>